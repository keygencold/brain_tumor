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sldIdLst>
    <p:sldId id="256" r:id="rId2"/>
    <p:sldId id="259" r:id="rId3"/>
    <p:sldId id="258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15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58E14-23EC-4C25-974C-48FA839886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70" y="978408"/>
            <a:ext cx="5021183" cy="507422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9FEDD4-20A1-49F6-9E3E-0B26B426BB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62167" y="3602038"/>
            <a:ext cx="5021183" cy="2244580"/>
          </a:xfrm>
        </p:spPr>
        <p:txBody>
          <a:bodyPr anchor="b">
            <a:normAutofit/>
          </a:bodyPr>
          <a:lstStyle>
            <a:lvl1pPr marL="0" indent="0" algn="l">
              <a:lnSpc>
                <a:spcPct val="100000"/>
              </a:lnSpc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80A32F-E6F3-4C2E-B9E3-E47868E42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1A759-BFF8-4B5B-9ECE-D93AC303B331}" type="datetime1">
              <a:rPr lang="en-US" smtClean="0"/>
              <a:t>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806724-A87A-4231-BFD9-277482AF7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30D1AF-36B8-4BB8-BD6A-71194F7BC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3FF94B3-6D3E-44FE-BB02-A9027C0003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62168" y="6209925"/>
            <a:ext cx="5021183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3048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63D8A-C68D-4CF9-9D15-3E09BCC09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24D94C-E537-4FF3-AAF8-A85F05C31A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24B1D4-6731-4993-8609-16C1D33279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AB316-A2E6-49F2-825C-64AA951E4184}" type="datetime1">
              <a:rPr lang="en-US" smtClean="0"/>
              <a:t>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FB7BBD-CEEB-4256-84B2-6D907E118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72A8B7-F430-4F4A-BB63-481F51E58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8241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BAC1C-A332-4BA5-8C9C-FE0396C816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978408"/>
            <a:ext cx="5020056" cy="4870974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D8D137-710E-4125-B5E9-F63E7F1C9C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62167" y="3566639"/>
            <a:ext cx="5021183" cy="2279979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5480C5-E9A6-425E-B050-03E444BE9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9748B-ADD6-4C5A-8C2A-A39721276E74}" type="datetime1">
              <a:rPr lang="en-US" smtClean="0"/>
              <a:t>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1B4831-6C0B-4E0B-A341-91E4C5D36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011EE6-252D-46DD-94DF-C42657EF2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8421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04B06-C54A-4B7B-B6D1-436428EAF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978408"/>
            <a:ext cx="5021182" cy="52076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723919-9A2F-4D97-8F31-6E35BD5975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63049" y="969264"/>
            <a:ext cx="5290751" cy="25551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8DA345-F684-4BAA-A22C-E725B3A603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63049" y="3621849"/>
            <a:ext cx="5290751" cy="25551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399C52-9753-45D8-9646-CF31BB015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1FB0F-3C5C-4949-B933-9C7E511ED094}" type="datetime1">
              <a:rPr lang="en-US" smtClean="0"/>
              <a:t>2/25/2025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F95E57-622C-4199-940E-F5462E1AC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1B7592-00E8-41EF-B749-2A5EA8E46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820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2291277-967B-4176-B40B-9EC360626994}"/>
              </a:ext>
            </a:extLst>
          </p:cNvPr>
          <p:cNvSpPr/>
          <p:nvPr/>
        </p:nvSpPr>
        <p:spPr>
          <a:xfrm>
            <a:off x="517869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cap="none" spc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B11C00-F7CB-4484-807A-D12745CD3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69" y="978119"/>
            <a:ext cx="11165481" cy="10730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FAAA6E-E243-48B3-9585-3C1420B3E1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7870" y="2178908"/>
            <a:ext cx="5020056" cy="65490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ED01B8-0F2E-41A4-B21C-334393F6A6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7870" y="2876085"/>
            <a:ext cx="5020056" cy="33228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89B23F-3E60-415A-9CE7-0928B5CFB2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62168" y="2178908"/>
            <a:ext cx="5021182" cy="65490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223446-0CDC-402B-8D71-D9D29F6DFF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62168" y="2876085"/>
            <a:ext cx="5021182" cy="33228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2B77D3-C6EC-4FFD-9E10-24E1AC5420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7870" y="6420414"/>
            <a:ext cx="2743200" cy="365125"/>
          </a:xfrm>
        </p:spPr>
        <p:txBody>
          <a:bodyPr/>
          <a:lstStyle/>
          <a:p>
            <a:fld id="{C2F01D58-E949-4BCB-829A-BBF80E38D59C}" type="datetime1">
              <a:rPr lang="en-US" smtClean="0"/>
              <a:t>2/25/2025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09DF31B-BD07-4DC2-95C2-B77E51AAE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54CE5A-3A0A-4AAB-81D2-F1C20636E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4596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216B8-52AB-412B-BBE7-B6BE698FA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F779C3-9D19-467E-A5D2-0920834DA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0A846-0DA4-4D92-9BF1-DE8C52C1F4DF}" type="datetime1">
              <a:rPr lang="en-US" smtClean="0"/>
              <a:t>2/25/2025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272BB4-C8D8-4F74-9677-5AC979932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6B49B8-779F-4492-ABD9-96F0D042A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8552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B976BF-9339-48D6-881A-280D15492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12331-4A9C-472F-A7FA-968157338839}" type="datetime1">
              <a:rPr lang="en-US" smtClean="0"/>
              <a:t>2/25/2025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277605-C9C8-432E-9662-D7D410B15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2432B6-4A12-46EF-98A7-B5D50BD51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675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F191C-AF68-4230-A7B2-F8F07B486E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978408"/>
            <a:ext cx="5020948" cy="2270641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8F9F11-5FCF-4D7E-BA51-38CB84277D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53182" y="987423"/>
            <a:ext cx="5020948" cy="487362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3B519B-06C0-41BC-95FB-FB1FE43637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17870" y="3361038"/>
            <a:ext cx="5020948" cy="2507949"/>
          </a:xfrm>
        </p:spPr>
        <p:txBody>
          <a:bodyPr>
            <a:normAutofit/>
          </a:bodyPr>
          <a:lstStyle>
            <a:lvl1pPr marL="0" indent="0">
              <a:buNone/>
              <a:defRPr sz="2400" b="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B8B70C-015C-4832-AFF6-D033E0227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97F3D-ED52-43FD-A26D-318B71534485}" type="datetime1">
              <a:rPr lang="en-US" smtClean="0"/>
              <a:t>2/25/2025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F1A6FB-8C14-46D1-90A5-0FF11DE78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82C585-6FA1-4E94-9C1C-A1DEDE551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9880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98B43-D1CE-43F4-A367-EF1FE9688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978408"/>
            <a:ext cx="5020948" cy="2270641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B73978-8CDF-4C0E-ABA1-7291A03473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662168" y="987425"/>
            <a:ext cx="5027005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BECC62-ED45-451E-BEC5-A03C6A554D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17870" y="3340442"/>
            <a:ext cx="5020948" cy="2528545"/>
          </a:xfrm>
        </p:spPr>
        <p:txBody>
          <a:bodyPr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1A7A86-B983-4315-9312-936B4FCF7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91FA4-6264-4BB8-B3B5-77711EED2D82}" type="datetime1">
              <a:rPr lang="en-US" smtClean="0"/>
              <a:t>2/25/2025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2E88C0-25A5-46F9-AB35-EAD50E6B9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0F9EA8-45AD-478E-8606-9328245BC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1285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F6B8E-1D8E-4105-9BBB-D53AD24B7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825530-6629-4FEA-9670-EB21A2F5BA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664C7A-A73F-46F5-BC33-696671DAE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DF398-5DA3-4937-BE3F-7CA1B9158252}" type="datetime1">
              <a:rPr lang="en-US" smtClean="0"/>
              <a:t>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2B3CC0-B649-4509-A4B6-DF9D20EFA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CECCCA-3F2A-46F3-BF45-7C862FF1D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3364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A50133B-2446-4168-AA17-6538910668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62168" y="996791"/>
            <a:ext cx="5011962" cy="495692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06A9AD-2756-4C51-A958-6756301EB9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17870" y="996791"/>
            <a:ext cx="5021183" cy="495692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42995D-CCEA-43AF-973B-8B6B56A56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91ED9-F929-4A92-90F9-3C9C84ABBE83}" type="datetime1">
              <a:rPr lang="en-US" smtClean="0"/>
              <a:t>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4029CF-BA62-4CCD-956E-FFA0B37B8A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CE0B3D-96AB-41B3-ABDD-5B0DE863D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‹nº›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618136A-0796-46EB-89BB-4C73C0258F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62168" y="6209925"/>
            <a:ext cx="5021183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5523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61AD20-E240-4E6F-AF91-689F7AEEE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978408"/>
            <a:ext cx="5021182" cy="48704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E78801-35D1-4C19-BC2B-EAC7EE917E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62168" y="969264"/>
            <a:ext cx="5021182" cy="48704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282A45-C5B9-4575-8E28-A35767B4D7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17870" y="642041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7F6A1D9-D323-4F4E-8655-25E2D32CE742}" type="datetime1">
              <a:rPr lang="en-US" smtClean="0"/>
              <a:t>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9D0933-AA03-4018-8E37-004CFB9F61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7870" y="97713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F282A-DF4A-4A2D-9672-8F0F770A3F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4317" y="6420414"/>
            <a:ext cx="6379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DFDF98CC-160E-494C-8C3C-8CDC5FA257DE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DE57300-C7FF-4578-99A0-42B0295B123C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B8F8250-7A81-4A19-87AD-FFB2CE4E39A5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99F38FC-2DEA-2647-C409-EF75720C1017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9363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5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indent="-27432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274320" indent="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548640" indent="-27432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548640" indent="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Visão microscópica de células">
            <a:extLst>
              <a:ext uri="{FF2B5EF4-FFF2-40B4-BE49-F238E27FC236}">
                <a16:creationId xmlns:a16="http://schemas.microsoft.com/office/drawing/2014/main" id="{0BC975D2-9E83-1B7F-D99D-0F86E4E6180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5730"/>
          <a:stretch/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AAB476BF-4EE2-5243-CABB-6CC72C39BF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507179" y="173181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0000"/>
                </a:schemeClr>
              </a:gs>
              <a:gs pos="26000">
                <a:schemeClr val="bg1">
                  <a:alpha val="17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F3EC698-5CBF-E241-627B-E0830CD85F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06780" y="978409"/>
            <a:ext cx="4496529" cy="3678268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pt-PT" sz="5100"/>
              <a:t>CNN Classificaçao tumor cerebral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162E27F-39F0-474B-6099-A9C953FC44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03288" y="4729138"/>
            <a:ext cx="4488812" cy="1150453"/>
          </a:xfrm>
        </p:spPr>
        <p:txBody>
          <a:bodyPr anchor="b">
            <a:normAutofit/>
          </a:bodyPr>
          <a:lstStyle/>
          <a:p>
            <a:endParaRPr lang="pt-PT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0D28EA4-6F96-F7C6-1D07-5BA5C27387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06781" y="508090"/>
            <a:ext cx="449275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DFF93C5-0576-D227-80A7-4CFBA8791A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10119" y="6209925"/>
            <a:ext cx="4492754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8603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9E10BDB4-64F2-477D-A03B-9F8352D5E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0C12A1A-E748-E6C7-3531-CB540DAA3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67" y="976160"/>
            <a:ext cx="6300216" cy="1322903"/>
          </a:xfrm>
        </p:spPr>
        <p:txBody>
          <a:bodyPr>
            <a:normAutofit/>
          </a:bodyPr>
          <a:lstStyle/>
          <a:p>
            <a:r>
              <a:rPr lang="pt-PT" sz="4400"/>
              <a:t>Treino e classificaçao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C96A3E6-43AA-AC7A-D4FA-8CC8CC8BC2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07224" y="1088204"/>
            <a:ext cx="4160520" cy="5257800"/>
          </a:xfrm>
        </p:spPr>
        <p:txBody>
          <a:bodyPr>
            <a:normAutofit/>
          </a:bodyPr>
          <a:lstStyle/>
          <a:p>
            <a:r>
              <a:rPr lang="pt-PT" sz="1800" b="1"/>
              <a:t>Samples de treino: </a:t>
            </a:r>
            <a:br>
              <a:rPr lang="pt-PT" sz="1800" b="1"/>
            </a:br>
            <a:r>
              <a:rPr lang="pt-PT" sz="1800" b="1"/>
              <a:t>	</a:t>
            </a:r>
            <a:r>
              <a:rPr lang="pt-PT" sz="1800"/>
              <a:t>4571</a:t>
            </a:r>
            <a:br>
              <a:rPr lang="pt-PT" sz="1800"/>
            </a:br>
            <a:endParaRPr lang="pt-PT" sz="1800"/>
          </a:p>
          <a:p>
            <a:r>
              <a:rPr lang="pt-PT" sz="1800" b="1"/>
              <a:t>Validation Samples: </a:t>
            </a:r>
            <a:br>
              <a:rPr lang="pt-PT" sz="1800" b="1"/>
            </a:br>
            <a:r>
              <a:rPr lang="pt-PT" sz="1800" b="1"/>
              <a:t>	</a:t>
            </a:r>
            <a:r>
              <a:rPr lang="pt-PT" sz="1800"/>
              <a:t>1141 </a:t>
            </a:r>
            <a:br>
              <a:rPr lang="pt-PT" sz="1800"/>
            </a:br>
            <a:br>
              <a:rPr lang="pt-PT" sz="1800"/>
            </a:br>
            <a:r>
              <a:rPr lang="pt-PT" sz="1800" b="1"/>
              <a:t>Modelo: </a:t>
            </a:r>
            <a:br>
              <a:rPr lang="pt-PT" sz="1800"/>
            </a:br>
            <a:r>
              <a:rPr lang="pt-PT" sz="1800"/>
              <a:t>	Sequencial</a:t>
            </a:r>
            <a:br>
              <a:rPr lang="pt-PT" sz="1800"/>
            </a:br>
            <a:br>
              <a:rPr lang="pt-PT" sz="1800"/>
            </a:br>
            <a:r>
              <a:rPr lang="pt-PT" sz="1800" b="1"/>
              <a:t>Iteraçoes : </a:t>
            </a:r>
            <a:r>
              <a:rPr lang="pt-PT" sz="1800"/>
              <a:t>	</a:t>
            </a:r>
          </a:p>
          <a:p>
            <a:r>
              <a:rPr lang="pt-PT" sz="1800"/>
              <a:t>	15</a:t>
            </a:r>
            <a:br>
              <a:rPr lang="pt-PT" sz="1800"/>
            </a:br>
            <a:br>
              <a:rPr lang="pt-PT" sz="1800"/>
            </a:br>
            <a:r>
              <a:rPr lang="pt-PT" sz="1800"/>
              <a:t>	</a:t>
            </a:r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887F59F2-5FBC-40CD-AD35-376AECE49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508090"/>
            <a:ext cx="6281928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ConvNet: O que é Convolutional Neural Network? - IONOS">
            <a:extLst>
              <a:ext uri="{FF2B5EF4-FFF2-40B4-BE49-F238E27FC236}">
                <a16:creationId xmlns:a16="http://schemas.microsoft.com/office/drawing/2014/main" id="{FFC9823D-77F2-BD1D-FF34-CD45A27400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17867" y="2812419"/>
            <a:ext cx="6281928" cy="35335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998715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9F1A4C-9F16-F883-79ED-B162334EB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Iteraçoes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D270708-F516-DBBF-A2FA-C83A0FC259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PT" b="1" dirty="0"/>
              <a:t>DataSet Utilizado:</a:t>
            </a:r>
            <a:br>
              <a:rPr lang="pt-PT" dirty="0"/>
            </a:br>
            <a:r>
              <a:rPr lang="pt-PT" dirty="0"/>
              <a:t>https://www.kaggle.com/datasets/masoudnickparvar/brain-tumor-mri-dataset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2A4AA1D-3DCE-DAED-0F12-08397C4262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905" y="2725177"/>
            <a:ext cx="11325225" cy="3714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77745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BFF403-095E-C907-3F13-64C160D79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08" y="547233"/>
            <a:ext cx="5021182" cy="4870457"/>
          </a:xfrm>
        </p:spPr>
        <p:txBody>
          <a:bodyPr/>
          <a:lstStyle/>
          <a:p>
            <a:r>
              <a:rPr lang="pt-PT" dirty="0"/>
              <a:t>Accuracy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226AFA7-AB48-632F-A303-F56010E1E5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4257" y="2598302"/>
            <a:ext cx="3900456" cy="1661395"/>
          </a:xfrm>
        </p:spPr>
        <p:txBody>
          <a:bodyPr/>
          <a:lstStyle/>
          <a:p>
            <a:r>
              <a:rPr lang="pt-PT" b="1" dirty="0"/>
              <a:t>Global Accuracy: </a:t>
            </a:r>
            <a:br>
              <a:rPr lang="pt-PT" b="1" dirty="0"/>
            </a:br>
            <a:r>
              <a:rPr lang="pt-PT" b="1" dirty="0"/>
              <a:t>	</a:t>
            </a:r>
            <a:r>
              <a:rPr lang="pt-PT" dirty="0"/>
              <a:t>82.99% </a:t>
            </a:r>
          </a:p>
        </p:txBody>
      </p:sp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15CE2E9E-69F0-8841-C442-255587F53E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8100885"/>
              </p:ext>
            </p:extLst>
          </p:nvPr>
        </p:nvGraphicFramePr>
        <p:xfrm>
          <a:off x="3869399" y="2150928"/>
          <a:ext cx="8120185" cy="42175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4037">
                  <a:extLst>
                    <a:ext uri="{9D8B030D-6E8A-4147-A177-3AD203B41FA5}">
                      <a16:colId xmlns:a16="http://schemas.microsoft.com/office/drawing/2014/main" val="1045125871"/>
                    </a:ext>
                  </a:extLst>
                </a:gridCol>
                <a:gridCol w="1624037">
                  <a:extLst>
                    <a:ext uri="{9D8B030D-6E8A-4147-A177-3AD203B41FA5}">
                      <a16:colId xmlns:a16="http://schemas.microsoft.com/office/drawing/2014/main" val="3855595658"/>
                    </a:ext>
                  </a:extLst>
                </a:gridCol>
                <a:gridCol w="1624037">
                  <a:extLst>
                    <a:ext uri="{9D8B030D-6E8A-4147-A177-3AD203B41FA5}">
                      <a16:colId xmlns:a16="http://schemas.microsoft.com/office/drawing/2014/main" val="2008841055"/>
                    </a:ext>
                  </a:extLst>
                </a:gridCol>
                <a:gridCol w="1624037">
                  <a:extLst>
                    <a:ext uri="{9D8B030D-6E8A-4147-A177-3AD203B41FA5}">
                      <a16:colId xmlns:a16="http://schemas.microsoft.com/office/drawing/2014/main" val="499515330"/>
                    </a:ext>
                  </a:extLst>
                </a:gridCol>
                <a:gridCol w="1624037">
                  <a:extLst>
                    <a:ext uri="{9D8B030D-6E8A-4147-A177-3AD203B41FA5}">
                      <a16:colId xmlns:a16="http://schemas.microsoft.com/office/drawing/2014/main" val="924541683"/>
                    </a:ext>
                  </a:extLst>
                </a:gridCol>
              </a:tblGrid>
              <a:tr h="421754">
                <a:tc>
                  <a:txBody>
                    <a:bodyPr/>
                    <a:lstStyle/>
                    <a:p>
                      <a:endParaRPr lang="pt-P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PT" dirty="0"/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PT" dirty="0"/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PT" dirty="0"/>
                        <a:t>F1-score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PT" dirty="0"/>
                        <a:t>support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6352546"/>
                  </a:ext>
                </a:extLst>
              </a:tr>
              <a:tr h="421754">
                <a:tc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P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P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6879473"/>
                  </a:ext>
                </a:extLst>
              </a:tr>
              <a:tr h="421754">
                <a:tc>
                  <a:txBody>
                    <a:bodyPr/>
                    <a:lstStyle/>
                    <a:p>
                      <a:r>
                        <a:rPr lang="pt-PT" b="1" dirty="0"/>
                        <a:t>Glioma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PT" dirty="0"/>
                        <a:t>0.89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PT" dirty="0"/>
                        <a:t>0.76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PT" dirty="0"/>
                        <a:t>0.82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PT" dirty="0"/>
                        <a:t>300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5764476"/>
                  </a:ext>
                </a:extLst>
              </a:tr>
              <a:tr h="421754">
                <a:tc>
                  <a:txBody>
                    <a:bodyPr/>
                    <a:lstStyle/>
                    <a:p>
                      <a:r>
                        <a:rPr lang="pt-PT" b="1" dirty="0"/>
                        <a:t>Meningioma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PT" dirty="0"/>
                        <a:t>0.74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PT" dirty="0"/>
                        <a:t>0.61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PT" dirty="0"/>
                        <a:t>0.67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PT" dirty="0"/>
                        <a:t>306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6222181"/>
                  </a:ext>
                </a:extLst>
              </a:tr>
              <a:tr h="421754">
                <a:tc>
                  <a:txBody>
                    <a:bodyPr/>
                    <a:lstStyle/>
                    <a:p>
                      <a:r>
                        <a:rPr lang="pt-PT" b="1" dirty="0"/>
                        <a:t>No Tumor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PT" dirty="0"/>
                        <a:t>0.80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PT" dirty="0"/>
                        <a:t>0.99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PT" dirty="0"/>
                        <a:t>0.88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PT" dirty="0"/>
                        <a:t>405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1115464"/>
                  </a:ext>
                </a:extLst>
              </a:tr>
              <a:tr h="421754">
                <a:tc>
                  <a:txBody>
                    <a:bodyPr/>
                    <a:lstStyle/>
                    <a:p>
                      <a:r>
                        <a:rPr lang="pt-PT" b="1" dirty="0"/>
                        <a:t>pituitary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PT" dirty="0"/>
                        <a:t>0.91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PT" dirty="0"/>
                        <a:t>0.91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PT" dirty="0"/>
                        <a:t>0.91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PT" dirty="0"/>
                        <a:t>300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9665498"/>
                  </a:ext>
                </a:extLst>
              </a:tr>
              <a:tr h="421754">
                <a:tc>
                  <a:txBody>
                    <a:bodyPr/>
                    <a:lstStyle/>
                    <a:p>
                      <a:endParaRPr lang="pt-P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2463594"/>
                  </a:ext>
                </a:extLst>
              </a:tr>
              <a:tr h="421754">
                <a:tc>
                  <a:txBody>
                    <a:bodyPr/>
                    <a:lstStyle/>
                    <a:p>
                      <a:r>
                        <a:rPr lang="pt-PT" b="1" dirty="0"/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P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PT" dirty="0"/>
                        <a:t>0.83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PT" dirty="0"/>
                        <a:t>1311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7107440"/>
                  </a:ext>
                </a:extLst>
              </a:tr>
              <a:tr h="42175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b="1" dirty="0"/>
                        <a:t>Macro Avg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dirty="0"/>
                        <a:t>0.83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PT" dirty="0"/>
                        <a:t>0.82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PT" dirty="0"/>
                        <a:t>0.82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PT" dirty="0"/>
                        <a:t>1311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5555383"/>
                  </a:ext>
                </a:extLst>
              </a:tr>
              <a:tr h="421754">
                <a:tc>
                  <a:txBody>
                    <a:bodyPr/>
                    <a:lstStyle/>
                    <a:p>
                      <a:r>
                        <a:rPr lang="pt-PT" b="1" dirty="0"/>
                        <a:t>Weighted avg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dirty="0"/>
                        <a:t>0.83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PT" dirty="0"/>
                        <a:t>0.83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PT" dirty="0"/>
                        <a:t>0.82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PT" dirty="0"/>
                        <a:t>1311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31444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695725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E57300-C7FF-4578-99A0-42B0295B1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B8F8250-7A81-4A19-87AD-FFB2CE4E39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99F38FC-2DEA-2647-C409-EF75720C1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3FF94B3-6D3E-44FE-BB02-A9027C0003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2168" y="6209925"/>
            <a:ext cx="5021183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FAF3766F-DEF3-4802-BB0D-7A18EDD970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450CF9A-6072-321E-AC4B-792E37406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978408"/>
            <a:ext cx="3465681" cy="245059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800">
                <a:solidFill>
                  <a:schemeClr val="tx2"/>
                </a:solidFill>
              </a:rPr>
              <a:t>Confusion Matrix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91952F0-771E-D2ED-C333-EEED6708B8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1" y="508090"/>
            <a:ext cx="346642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Espaço Reservado para Conteúdo 4" descr="Gráfico&#10;&#10;O conteúdo gerado por IA pode estar incorreto.">
            <a:extLst>
              <a:ext uri="{FF2B5EF4-FFF2-40B4-BE49-F238E27FC236}">
                <a16:creationId xmlns:a16="http://schemas.microsoft.com/office/drawing/2014/main" id="{04530178-11F8-7CFD-8B88-C5BBA5D864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73859" y="703837"/>
            <a:ext cx="6884312" cy="5800033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3FB6D83C-2377-9CAD-A991-9E0B6AF250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1208" y="6299535"/>
            <a:ext cx="3465681" cy="4646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133086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9">
            <a:extLst>
              <a:ext uri="{FF2B5EF4-FFF2-40B4-BE49-F238E27FC236}">
                <a16:creationId xmlns:a16="http://schemas.microsoft.com/office/drawing/2014/main" id="{ADE57300-C7FF-4578-99A0-42B0295B1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11">
            <a:extLst>
              <a:ext uri="{FF2B5EF4-FFF2-40B4-BE49-F238E27FC236}">
                <a16:creationId xmlns:a16="http://schemas.microsoft.com/office/drawing/2014/main" id="{DB8F8250-7A81-4A19-87AD-FFB2CE4E39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13">
            <a:extLst>
              <a:ext uri="{FF2B5EF4-FFF2-40B4-BE49-F238E27FC236}">
                <a16:creationId xmlns:a16="http://schemas.microsoft.com/office/drawing/2014/main" id="{499F38FC-2DEA-2647-C409-EF75720C1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15">
            <a:extLst>
              <a:ext uri="{FF2B5EF4-FFF2-40B4-BE49-F238E27FC236}">
                <a16:creationId xmlns:a16="http://schemas.microsoft.com/office/drawing/2014/main" id="{F3FF94B3-6D3E-44FE-BB02-A9027C0003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2168" y="6209925"/>
            <a:ext cx="5021183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7" name="Rectangle 17">
            <a:extLst>
              <a:ext uri="{FF2B5EF4-FFF2-40B4-BE49-F238E27FC236}">
                <a16:creationId xmlns:a16="http://schemas.microsoft.com/office/drawing/2014/main" id="{FAF3766F-DEF3-4802-BB0D-7A18EDD970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FC14700-4F98-4BB6-81B8-86976EF4F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978408"/>
            <a:ext cx="3465681" cy="245059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800">
                <a:solidFill>
                  <a:schemeClr val="tx2"/>
                </a:solidFill>
              </a:rPr>
              <a:t>Examples</a:t>
            </a:r>
          </a:p>
        </p:txBody>
      </p:sp>
      <p:sp>
        <p:nvSpPr>
          <p:cNvPr id="28" name="Rectangle 19">
            <a:extLst>
              <a:ext uri="{FF2B5EF4-FFF2-40B4-BE49-F238E27FC236}">
                <a16:creationId xmlns:a16="http://schemas.microsoft.com/office/drawing/2014/main" id="{D91952F0-771E-D2ED-C333-EEED6708B8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1" y="508090"/>
            <a:ext cx="346642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F1FEF35F-4249-E55B-EE10-97D109D865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01709" y="3629"/>
            <a:ext cx="6150062" cy="6708716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3FB6D83C-2377-9CAD-A991-9E0B6AF250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1208" y="6299535"/>
            <a:ext cx="3465681" cy="4646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844047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E57300-C7FF-4578-99A0-42B0295B1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1">
            <a:extLst>
              <a:ext uri="{FF2B5EF4-FFF2-40B4-BE49-F238E27FC236}">
                <a16:creationId xmlns:a16="http://schemas.microsoft.com/office/drawing/2014/main" id="{DB8F8250-7A81-4A19-87AD-FFB2CE4E39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3">
            <a:extLst>
              <a:ext uri="{FF2B5EF4-FFF2-40B4-BE49-F238E27FC236}">
                <a16:creationId xmlns:a16="http://schemas.microsoft.com/office/drawing/2014/main" id="{499F38FC-2DEA-2647-C409-EF75720C1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3FF94B3-6D3E-44FE-BB02-A9027C0003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2168" y="6209925"/>
            <a:ext cx="5021183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820888B-4EA5-E0E8-6D52-7733E1E774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CF47726-D5F1-696E-4358-955C64638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3434" y="1375953"/>
            <a:ext cx="3397649" cy="284072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/>
              <a:t>Examples 2</a:t>
            </a: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6B5A8BF-0680-F9A7-27B1-3971EC9347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C3EC2ACB-D24A-C720-6D64-07C0BC9563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19359" y="965741"/>
            <a:ext cx="4627029" cy="5380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139086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Custom 86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Bierstad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109</Words>
  <Application>Microsoft Office PowerPoint</Application>
  <PresentationFormat>Widescreen</PresentationFormat>
  <Paragraphs>49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1" baseType="lpstr">
      <vt:lpstr>Arial</vt:lpstr>
      <vt:lpstr>Bierstadt</vt:lpstr>
      <vt:lpstr>Neue Haas Grotesk Text Pro</vt:lpstr>
      <vt:lpstr>GestaltVTI</vt:lpstr>
      <vt:lpstr>CNN Classificaçao tumor cerebral</vt:lpstr>
      <vt:lpstr>Treino e classificaçao </vt:lpstr>
      <vt:lpstr>Iteraçoes</vt:lpstr>
      <vt:lpstr>Accuracy</vt:lpstr>
      <vt:lpstr>Confusion Matrix</vt:lpstr>
      <vt:lpstr>Examples</vt:lpstr>
      <vt:lpstr>Examples 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Correia</dc:creator>
  <cp:lastModifiedBy>Daniel Correia</cp:lastModifiedBy>
  <cp:revision>6</cp:revision>
  <dcterms:created xsi:type="dcterms:W3CDTF">2025-02-25T20:34:30Z</dcterms:created>
  <dcterms:modified xsi:type="dcterms:W3CDTF">2025-02-25T22:07:40Z</dcterms:modified>
</cp:coreProperties>
</file>